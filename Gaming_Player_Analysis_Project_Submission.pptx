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46304" cy="6858000"/>
          </a:xfrm>
          <a:prstGeom prst="rect">
            <a:avLst/>
          </a:prstGeom>
          <a:solidFill>
            <a:srgbClr val="2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2336" y="0"/>
            <a:ext cx="146304" cy="6858000"/>
          </a:xfrm>
          <a:prstGeom prst="rect">
            <a:avLst/>
          </a:prstGeom>
          <a:solidFill>
            <a:srgbClr val="E1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2244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AI-Based </a:t>
            </a:r>
            <a:r>
              <a:rPr lang="en-US" dirty="0"/>
              <a:t>Dynamic Difficulty &amp; Retention Engine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265700" y="3914858"/>
            <a:ext cx="17127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Presented by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lang="en-US" dirty="0"/>
              <a:t>Nandini K.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18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A34"/>
                </a:solidFill>
              </a:defRPr>
            </a:pPr>
            <a:r>
              <a:rPr dirty="0"/>
              <a:t>Gaming platforms generate large volumes of player activity data, but raw metrics alone do not provide actionable player-level insights.</a:t>
            </a:r>
          </a:p>
          <a:p>
            <a:pPr>
              <a:spcAft>
                <a:spcPts val="1300"/>
              </a:spcAft>
              <a:defRPr sz="1900" b="0">
                <a:solidFill>
                  <a:srgbClr val="232A34"/>
                </a:solidFill>
              </a:defRPr>
            </a:pPr>
            <a:r>
              <a:rPr dirty="0"/>
              <a:t>Players differ in engagement, progression and activity patterns, so a single retention strategy is not effective for everyone.</a:t>
            </a:r>
            <a:endParaRPr lang="en-US" dirty="0"/>
          </a:p>
          <a:p>
            <a:pPr>
              <a:spcAft>
                <a:spcPts val="1300"/>
              </a:spcAft>
              <a:defRPr sz="1900" b="0">
                <a:solidFill>
                  <a:srgbClr val="232A34"/>
                </a:solidFill>
              </a:defRPr>
            </a:pPr>
            <a:r>
              <a:rPr lang="en-US" sz="1900" dirty="0"/>
              <a:t>The project </a:t>
            </a:r>
            <a:r>
              <a:rPr lang="en-US" sz="1900" b="1" dirty="0"/>
              <a:t>aims to convert these raw data into actionable insights using machine learning and rule based recommendations so that the gaming team can implement the intervention </a:t>
            </a:r>
            <a:r>
              <a:rPr lang="en-US" sz="1900" b="1"/>
              <a:t>for the player.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074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82296" cy="1920240"/>
          </a:xfrm>
          <a:prstGeom prst="rect">
            <a:avLst/>
          </a:prstGeom>
          <a:solidFill>
            <a:srgbClr val="2C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Player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46908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Classify players based on weekly playtime and activity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074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82296" cy="1920240"/>
          </a:xfrm>
          <a:prstGeom prst="rect">
            <a:avLst/>
          </a:prstGeom>
          <a:solidFill>
            <a:srgbClr val="2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49047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Churn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011680"/>
            <a:ext cx="46908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Identify players with higher risk of becoming inactive.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5074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657600"/>
            <a:ext cx="82296" cy="1920240"/>
          </a:xfrm>
          <a:prstGeom prst="rect">
            <a:avLst/>
          </a:prstGeom>
          <a:solidFill>
            <a:srgbClr val="E1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822191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Action 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343400"/>
            <a:ext cx="46908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Generate a suitable retention/engagement action from prediction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57600"/>
            <a:ext cx="5074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82296" cy="192024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3822191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Business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4343400"/>
            <a:ext cx="4690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Turn gameplay metrics into actionable insights for gaming </a:t>
            </a:r>
            <a:r>
              <a:rPr lang="en-US" dirty="0"/>
              <a:t>companies</a:t>
            </a:r>
            <a:r>
              <a:rPr dirty="0"/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</a:defRPr>
            </a:pPr>
            <a:r>
              <a:t>Dataset &amp; Input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82296" cy="4389120"/>
          </a:xfrm>
          <a:prstGeom prst="rect">
            <a:avLst/>
          </a:prstGeom>
          <a:solidFill>
            <a:srgbClr val="2C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Player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0779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Age</a:t>
            </a:r>
            <a:br/>
            <a:r>
              <a:t>Gender</a:t>
            </a:r>
            <a:br/>
            <a:r>
              <a:t>Location</a:t>
            </a:r>
            <a:br/>
            <a:r>
              <a:t>Game Genre</a:t>
            </a:r>
            <a:br/>
            <a:r>
              <a:t>Current Game Difficulty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2588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1325880"/>
            <a:ext cx="82296" cy="4389120"/>
          </a:xfrm>
          <a:prstGeom prst="rect">
            <a:avLst/>
          </a:prstGeom>
          <a:solidFill>
            <a:srgbClr val="2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1490472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Gameplay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011680"/>
            <a:ext cx="290779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Play Time Hours Per Week</a:t>
            </a:r>
            <a:br/>
            <a:r>
              <a:t>Sessions Per Week</a:t>
            </a:r>
            <a:br/>
            <a:r>
              <a:t>Average Session Duration</a:t>
            </a:r>
            <a:br/>
            <a:r>
              <a:t>Player Level</a:t>
            </a:r>
            <a:br/>
            <a:r>
              <a:t>Achievements Unlocked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32588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1325880"/>
            <a:ext cx="82296" cy="4389120"/>
          </a:xfrm>
          <a:prstGeom prst="rect">
            <a:avLst/>
          </a:prstGeom>
          <a:solidFill>
            <a:srgbClr val="E1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149047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Engagement &amp;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2011680"/>
            <a:ext cx="34564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In-Game Purchases</a:t>
            </a:r>
            <a:br/>
            <a:r>
              <a:t>Engagement Level</a:t>
            </a:r>
            <a:br/>
            <a:r>
              <a:t>Progression Speed</a:t>
            </a:r>
            <a:br/>
            <a:r>
              <a:t>Reports Received</a:t>
            </a:r>
            <a:br/>
            <a:r>
              <a:t>Match Abandonment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The application presents a simplified prediction form while the backend supplies the model-required features.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</a:defRPr>
            </a:pPr>
            <a:r>
              <a:t>Data 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232A34"/>
                </a:solidFill>
              </a:defRPr>
            </a:pPr>
            <a:r>
              <a:rPr dirty="0"/>
              <a:t>Validated data types, missing values, duplicates and inconsistent records.</a:t>
            </a:r>
          </a:p>
          <a:p>
            <a:pPr>
              <a:spcAft>
                <a:spcPts val="1300"/>
              </a:spcAft>
              <a:defRPr sz="1800" b="0">
                <a:solidFill>
                  <a:srgbClr val="232A34"/>
                </a:solidFill>
              </a:defRPr>
            </a:pPr>
            <a:r>
              <a:rPr dirty="0"/>
              <a:t>Handled extreme values using clipping/capping where appropriate.</a:t>
            </a:r>
          </a:p>
          <a:p>
            <a:pPr>
              <a:spcAft>
                <a:spcPts val="1300"/>
              </a:spcAft>
              <a:defRPr sz="1800" b="0">
                <a:solidFill>
                  <a:srgbClr val="232A34"/>
                </a:solidFill>
              </a:defRPr>
            </a:pPr>
            <a:r>
              <a:rPr dirty="0"/>
              <a:t>Created derived </a:t>
            </a:r>
            <a:r>
              <a:rPr dirty="0" err="1"/>
              <a:t>behavioural</a:t>
            </a:r>
            <a:r>
              <a:rPr dirty="0"/>
              <a:t> features such as </a:t>
            </a:r>
            <a:r>
              <a:rPr dirty="0" err="1"/>
              <a:t>ProgressionSpeed</a:t>
            </a:r>
            <a:r>
              <a:rPr dirty="0"/>
              <a:t> and other engagement indicators.</a:t>
            </a:r>
          </a:p>
          <a:p>
            <a:pPr>
              <a:spcAft>
                <a:spcPts val="1300"/>
              </a:spcAft>
              <a:defRPr sz="1800" b="0">
                <a:solidFill>
                  <a:srgbClr val="232A34"/>
                </a:solidFill>
              </a:defRPr>
            </a:pPr>
            <a:r>
              <a:rPr dirty="0"/>
              <a:t>Encoded categorical variables using </a:t>
            </a:r>
            <a:r>
              <a:rPr dirty="0" err="1"/>
              <a:t>OneHotEncoder</a:t>
            </a:r>
            <a:r>
              <a:rPr dirty="0"/>
              <a:t> with </a:t>
            </a:r>
            <a:r>
              <a:rPr dirty="0" err="1"/>
              <a:t>handle_unknown</a:t>
            </a:r>
            <a:r>
              <a:rPr dirty="0"/>
              <a:t>='ignore'.</a:t>
            </a:r>
          </a:p>
          <a:p>
            <a:pPr>
              <a:spcAft>
                <a:spcPts val="1300"/>
              </a:spcAft>
              <a:defRPr sz="1800" b="0">
                <a:solidFill>
                  <a:srgbClr val="232A34"/>
                </a:solidFill>
              </a:defRPr>
            </a:pPr>
            <a:r>
              <a:rPr dirty="0"/>
              <a:t>Separated input features (X) from target variables (Y) before model training.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</a:defRPr>
            </a:pPr>
            <a:r>
              <a:t>Target Variables (Y Variables)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82296" cy="3886200"/>
          </a:xfrm>
          <a:prstGeom prst="rect">
            <a:avLst/>
          </a:prstGeom>
          <a:solidFill>
            <a:srgbClr val="2C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67335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Y1 — PlayerCategory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194560"/>
            <a:ext cx="304495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Casual / Moderate / Expert</a:t>
            </a:r>
            <a:br/>
            <a:r>
              <a:t>Based on weekly playtime.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0876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508760"/>
            <a:ext cx="82296" cy="3886200"/>
          </a:xfrm>
          <a:prstGeom prst="rect">
            <a:avLst/>
          </a:prstGeom>
          <a:solidFill>
            <a:srgbClr val="2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73168" y="167335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Y2 — ChurnRisk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194560"/>
            <a:ext cx="304495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High Risk / Low Risk</a:t>
            </a:r>
            <a:br/>
            <a:r>
              <a:t>Based on activity and engagement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50876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66760" y="1508760"/>
            <a:ext cx="82296" cy="3886200"/>
          </a:xfrm>
          <a:prstGeom prst="rect">
            <a:avLst/>
          </a:prstGeom>
          <a:solidFill>
            <a:srgbClr val="E1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67928" y="167335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Y3 — RecommendedAction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2194560"/>
            <a:ext cx="304495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Rule-based action generated from PlayerCategory and ChurnRisk.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</a:defRPr>
            </a:pPr>
            <a:r>
              <a:t>Machine Learning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82296" cy="4389120"/>
          </a:xfrm>
          <a:prstGeom prst="rect">
            <a:avLst/>
          </a:prstGeom>
          <a:solidFill>
            <a:srgbClr val="2C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1. PlayerCategory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53512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Classification model</a:t>
            </a:r>
            <a:br>
              <a:rPr dirty="0"/>
            </a:br>
            <a:br>
              <a:rPr dirty="0"/>
            </a:br>
            <a:r>
              <a:rPr lang="en-US" dirty="0"/>
              <a:t>XG Boost </a:t>
            </a:r>
            <a:r>
              <a:rPr dirty="0"/>
              <a:t>selected as the preferred model for the player category prediction.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325880"/>
            <a:ext cx="82296" cy="4389120"/>
          </a:xfrm>
          <a:prstGeom prst="rect">
            <a:avLst/>
          </a:prstGeom>
          <a:solidFill>
            <a:srgbClr val="2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2. ChurnRisk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011680"/>
            <a:ext cx="29535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Classification model</a:t>
            </a:r>
            <a:br>
              <a:rPr dirty="0"/>
            </a:br>
            <a:br>
              <a:rPr dirty="0"/>
            </a:br>
            <a:r>
              <a:rPr lang="en-US" dirty="0"/>
              <a:t>Logistic Regression </a:t>
            </a:r>
            <a:r>
              <a:rPr dirty="0"/>
              <a:t>used for identifying player churn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32588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1325880"/>
            <a:ext cx="82296" cy="4389120"/>
          </a:xfrm>
          <a:prstGeom prst="rect">
            <a:avLst/>
          </a:prstGeom>
          <a:solidFill>
            <a:srgbClr val="E1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3. RecommendedAction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2011680"/>
            <a:ext cx="29535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Rule-based decision layer</a:t>
            </a:r>
            <a:br/>
            <a:br/>
            <a:r>
              <a:t>Combines PlayerCategory and ChurnRisk to select an appropriate 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</a:defRPr>
            </a:pPr>
            <a:r>
              <a:t>Prediction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C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1" y="2359152"/>
            <a:ext cx="1591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341"/>
                </a:solidFill>
              </a:defRPr>
            </a:pPr>
            <a:r>
              <a:t>User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19456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16352" y="2359152"/>
            <a:ext cx="1591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341"/>
                </a:solidFill>
              </a:defRPr>
            </a:pPr>
            <a:r>
              <a:t>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46304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C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9472" y="1627632"/>
            <a:ext cx="1591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341"/>
                </a:solidFill>
              </a:defRPr>
            </a:pPr>
            <a:r>
              <a:t>PlayerCategory</a:t>
            </a:r>
            <a:br/>
            <a:r>
              <a:t>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92608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9472" y="3090672"/>
            <a:ext cx="1591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341"/>
                </a:solidFill>
              </a:defRPr>
            </a:pPr>
            <a:r>
              <a:t>ChurnRisk</a:t>
            </a:r>
            <a:br/>
            <a: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19456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359152"/>
            <a:ext cx="1591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341"/>
                </a:solidFill>
              </a:defRPr>
            </a:pPr>
            <a:r>
              <a:t>RecommendedAction</a:t>
            </a:r>
            <a:br/>
            <a:r>
              <a:t>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219456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57232" y="2359152"/>
            <a:ext cx="1591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341"/>
                </a:solidFill>
              </a:defRPr>
            </a:pPr>
            <a:r>
              <a:t>Results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2651760"/>
            <a:ext cx="36576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480560" y="1920240"/>
            <a:ext cx="365760" cy="73152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80560" y="2651760"/>
            <a:ext cx="365760" cy="73152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1920240"/>
            <a:ext cx="731520" cy="73152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583680" y="2651760"/>
            <a:ext cx="731520" cy="73152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2651760"/>
            <a:ext cx="7315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5074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A34"/>
                </a:solidFill>
              </a:defRPr>
            </a:pPr>
            <a:r>
              <a:t>Flow: User Input → Preprocessing → ML Predictions → Rule-Based Recommendation → Displayed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</a:defRPr>
            </a:pPr>
            <a:r>
              <a:t>Application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82296" cy="4297680"/>
          </a:xfrm>
          <a:prstGeom prst="rect">
            <a:avLst/>
          </a:prstGeom>
          <a:solidFill>
            <a:srgbClr val="2C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Frontend —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5740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Interactive prediction interface</a:t>
            </a:r>
            <a:br/>
            <a:br/>
            <a:r>
              <a:t>• Player input form</a:t>
            </a:r>
            <a:br/>
            <a:r>
              <a:t>• Prediction button</a:t>
            </a:r>
            <a:br/>
            <a:r>
              <a:t>• Results display</a:t>
            </a:r>
            <a:br/>
            <a:r>
              <a:t>• Project overview and ML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82296" cy="4297680"/>
          </a:xfrm>
          <a:prstGeom prst="rect">
            <a:avLst/>
          </a:prstGeom>
          <a:solidFill>
            <a:srgbClr val="2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Backend —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05740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Prediction API</a:t>
            </a:r>
            <a:br/>
            <a:br/>
            <a:r>
              <a:t>• Receives input data</a:t>
            </a:r>
            <a:br/>
            <a:r>
              <a:t>• Loads saved ML models</a:t>
            </a:r>
            <a:br/>
            <a:r>
              <a:t>• Performs preprocessing</a:t>
            </a:r>
            <a:br/>
            <a:r>
              <a:t>• Returns predictions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82296" cy="4297680"/>
          </a:xfrm>
          <a:prstGeom prst="rect">
            <a:avLst/>
          </a:prstGeom>
          <a:solidFill>
            <a:srgbClr val="E1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Data — 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05740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Cloud database layer</a:t>
            </a:r>
            <a:br/>
            <a:br/>
            <a:r>
              <a:t>• Stores project/player data</a:t>
            </a:r>
            <a:br/>
            <a:r>
              <a:t>• Supports data access</a:t>
            </a:r>
            <a:br/>
            <a:r>
              <a:t>• Separates application and database responsibilities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86640" y="320040"/>
            <a:ext cx="6154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2341"/>
                </a:solidFill>
              </a:defRPr>
            </a:pPr>
            <a:r>
              <a:rPr dirty="0"/>
              <a:t>User Interface &amp; Prediction Outputs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FDF7E0-23AE-F81C-37EE-EDB7EB00B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528" y="960120"/>
            <a:ext cx="7651638" cy="52083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5233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</a:defRPr>
            </a:pPr>
            <a:r>
              <a:t>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66597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AFC22-A712-2D92-CFBD-7D344053E107}"/>
              </a:ext>
            </a:extLst>
          </p:cNvPr>
          <p:cNvSpPr txBox="1"/>
          <p:nvPr/>
        </p:nvSpPr>
        <p:spPr>
          <a:xfrm>
            <a:off x="1140643" y="1470581"/>
            <a:ext cx="9162854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Personalized Player Engagement</a:t>
            </a:r>
            <a:r>
              <a:rPr lang="en-US" dirty="0"/>
              <a:t>: Different player groups receive tailored interventions.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Churn risk prediction</a:t>
            </a:r>
            <a:r>
              <a:rPr lang="en-US" dirty="0"/>
              <a:t>: Identifies players at risk of churn and require attention.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Actionable Decision-Making</a:t>
            </a:r>
            <a:r>
              <a:rPr lang="en-US" dirty="0"/>
              <a:t>: Converts model predictions into practical actions.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Operational</a:t>
            </a:r>
            <a:r>
              <a:rPr lang="en-US" dirty="0"/>
              <a:t> </a:t>
            </a:r>
            <a:r>
              <a:rPr lang="en-US" b="1" dirty="0"/>
              <a:t>Efficiency</a:t>
            </a:r>
            <a:r>
              <a:rPr lang="en-US" dirty="0"/>
              <a:t>: Automates player segmentation and intervention selection.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551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LENOVO</cp:lastModifiedBy>
  <cp:revision>6</cp:revision>
  <dcterms:created xsi:type="dcterms:W3CDTF">2013-01-27T09:14:16Z</dcterms:created>
  <dcterms:modified xsi:type="dcterms:W3CDTF">2026-08-12T03:01:06Z</dcterms:modified>
  <cp:category/>
</cp:coreProperties>
</file>